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318" r:id="rId6"/>
    <p:sldId id="261" r:id="rId7"/>
    <p:sldId id="262" r:id="rId8"/>
    <p:sldId id="323" r:id="rId9"/>
    <p:sldId id="324" r:id="rId10"/>
    <p:sldId id="319" r:id="rId11"/>
    <p:sldId id="320" r:id="rId12"/>
    <p:sldId id="321" r:id="rId13"/>
    <p:sldId id="263" r:id="rId14"/>
    <p:sldId id="264" r:id="rId15"/>
    <p:sldId id="265" r:id="rId16"/>
    <p:sldId id="317" r:id="rId17"/>
    <p:sldId id="297" r:id="rId18"/>
    <p:sldId id="298" r:id="rId19"/>
    <p:sldId id="299" r:id="rId20"/>
    <p:sldId id="300" r:id="rId21"/>
    <p:sldId id="302" r:id="rId22"/>
    <p:sldId id="303" r:id="rId23"/>
    <p:sldId id="304" r:id="rId24"/>
    <p:sldId id="305" r:id="rId25"/>
    <p:sldId id="316" r:id="rId26"/>
    <p:sldId id="307" r:id="rId27"/>
    <p:sldId id="306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2" r:id="rId57"/>
    <p:sldId id="293" r:id="rId58"/>
    <p:sldId id="295" r:id="rId5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80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A2C62-41FC-4E84-AD1C-DA10E796AF8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D3067-43BF-42D0-A4AD-4DB323F7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3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tiur03/CSE3110_Project_Management_2207097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389120"/>
            <a:ext cx="2926080" cy="2926080"/>
          </a:xfrm>
          <a:prstGeom prst="ellipse">
            <a:avLst/>
          </a:prstGeom>
          <a:ln w="1524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18220" y="3863340"/>
            <a:ext cx="3977640" cy="3977640"/>
          </a:xfrm>
          <a:prstGeom prst="ellipse">
            <a:avLst/>
          </a:prstGeom>
          <a:ln w="1524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3337560"/>
            <a:ext cx="5029200" cy="5029200"/>
          </a:xfrm>
          <a:prstGeom prst="ellipse">
            <a:avLst/>
          </a:prstGeom>
          <a:ln w="1524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66660" y="2811780"/>
            <a:ext cx="6080760" cy="6080760"/>
          </a:xfrm>
          <a:prstGeom prst="ellipse">
            <a:avLst/>
          </a:prstGeom>
          <a:ln w="1524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LABORATORY </a:t>
            </a:r>
            <a:r>
              <a:rPr lang="en-US" sz="14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CSE3110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ScrumLab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Scrum-Style Project Management System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Laravel + Oracle Database &amp; PL/SQL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4206240" cy="505968"/>
          </a:xfrm>
          <a:prstGeom prst="roundRect">
            <a:avLst>
              <a:gd name="adj" fmla="val 11111"/>
            </a:avLst>
          </a:prstGeom>
          <a:solidFill>
            <a:srgbClr val="2A3A82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5504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Mutiur Rahman (2207097)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2402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5511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need structured issue &amp; sprint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44568" y="22402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25511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ScrumLab is and who it's for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6733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39328" y="22402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25511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application layer + Oracle database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319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9808" y="38862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41970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tour with screenshots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44568" y="3319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44568" y="38862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Engine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44568" y="41970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procedures, triggers &amp; views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3319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39328" y="38862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39328" y="41970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operators, window functions &amp; HAVING beyond PL/SQL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65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Wrap-up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584301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queries, testing approach, and conclusion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"/>
    </mc:Choice>
    <mc:Fallback xmlns="">
      <p:transition spd="slow" advTm="625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Work Gets Lost Without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145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teams juggle dozens of small tasks, bugs, and stories at once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583603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chat threads don't track ownership, status, or history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39" y="3542878"/>
            <a:ext cx="5748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progress and team workload are invisible without a shared system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297680"/>
            <a:ext cx="563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need to be trustworthy - not just "whatever the last message said"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60920" y="173736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solves this for industry 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3524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ScrumLab solves it for learning.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35240" y="32461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self-built Scrum tracker gives us full control over the schema, the workflow rules, and the database logic underneath — instead of treating it as a black box.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ScrumLab?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ScrumLab is a web-based Scrum and issue-tracking system — inspired by Jira — where teams plan projects, run sprints, and manage the full lifecycle of an issue from idea to done.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with a name, key, owner &amp;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5146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cycles that pull work off the backlog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5146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Epics, Stories, Tasks &amp; Bugs with full workflow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25146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3886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columns driven by issue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20700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with credentials stored in the database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83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404164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workspace, key, description, ownership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687628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membership with an assigned role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783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971092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2585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membership scoped to a project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Text 25"/>
          <p:cNvSpPr/>
          <p:nvPr/>
        </p:nvSpPr>
        <p:spPr>
          <a:xfrm>
            <a:off x="1207008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3950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Project Owner, Scrum Master, Developer, Viewer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2918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4747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2" name="Text 30"/>
          <p:cNvSpPr/>
          <p:nvPr/>
        </p:nvSpPr>
        <p:spPr>
          <a:xfrm>
            <a:off x="4041648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3950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→ Story/Task/Bug hierarchy with parent linking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2918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7" name="Text 35"/>
          <p:cNvSpPr/>
          <p:nvPr/>
        </p:nvSpPr>
        <p:spPr>
          <a:xfrm>
            <a:off x="6876288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3950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active, and completed sprint states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2918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34747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92" dirty="0"/>
          </a:p>
        </p:txBody>
      </p:sp>
      <p:sp>
        <p:nvSpPr>
          <p:cNvPr id="42" name="Text 40"/>
          <p:cNvSpPr/>
          <p:nvPr/>
        </p:nvSpPr>
        <p:spPr>
          <a:xfrm>
            <a:off x="9710928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5440" y="3950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generated from live issue status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9834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" y="5166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92" dirty="0"/>
          </a:p>
        </p:txBody>
      </p:sp>
      <p:sp>
        <p:nvSpPr>
          <p:cNvPr id="47" name="Text 45"/>
          <p:cNvSpPr/>
          <p:nvPr/>
        </p:nvSpPr>
        <p:spPr>
          <a:xfrm>
            <a:off x="1207008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31520" y="5641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discussion attached to each issue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83280" y="49834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566160" y="51663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35661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2" dirty="0"/>
          </a:p>
        </p:txBody>
      </p:sp>
      <p:sp>
        <p:nvSpPr>
          <p:cNvPr id="52" name="Text 50"/>
          <p:cNvSpPr/>
          <p:nvPr/>
        </p:nvSpPr>
        <p:spPr>
          <a:xfrm>
            <a:off x="4041648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66160" y="5641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recorded automatically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49834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00800" y="5166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92" dirty="0"/>
          </a:p>
        </p:txBody>
      </p:sp>
      <p:sp>
        <p:nvSpPr>
          <p:cNvPr id="57" name="Text 55"/>
          <p:cNvSpPr/>
          <p:nvPr/>
        </p:nvSpPr>
        <p:spPr>
          <a:xfrm>
            <a:off x="6876288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00800" y="5641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comment, status &amp; sprint alerts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52560" y="49834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35440" y="51663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Text 59"/>
          <p:cNvSpPr/>
          <p:nvPr/>
        </p:nvSpPr>
        <p:spPr>
          <a:xfrm>
            <a:off x="92354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92" dirty="0"/>
          </a:p>
        </p:txBody>
      </p:sp>
      <p:sp>
        <p:nvSpPr>
          <p:cNvPr id="62" name="Text 60"/>
          <p:cNvSpPr/>
          <p:nvPr/>
        </p:nvSpPr>
        <p:spPr>
          <a:xfrm>
            <a:off x="9710928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235440" y="56418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rollups &amp; team insights via SQL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600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(PHP 8.2)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23560" y="16002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controllers, Eloquent models,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06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606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 + Livewire + Vite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26060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views, reactive board &amp; 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611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 21c XE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36118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yajra/laravel-oci8 driver — Oracle only, no MySQL/SQLite in prod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617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Logic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617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46177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procedures, triggers &amp; views run inside the database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623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5623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PHPUnit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56235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+ unit tests against a separate Oracle test schema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Where the Database Does the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Livewire UI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(Board, Backlog, Issue detail)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3611880"/>
            <a:ext cx="68580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703320" y="210312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Controllers validate &amp; route requests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34107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Eloquent models map to Oracle tables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0" y="40325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SqlDialect helper calls PL/SQL directly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0" y="46542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Livewire components drive the live 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3611880"/>
            <a:ext cx="68580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210312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0" y="2103120"/>
            <a:ext cx="4160520" cy="3291840"/>
          </a:xfrm>
          <a:prstGeom prst="roundRect">
            <a:avLst>
              <a:gd name="adj" fmla="val 2222"/>
            </a:avLst>
          </a:prstGeom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286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2761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 </a:t>
            </a:r>
            <a:r>
              <a:rPr lang="en-US" sz="10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core tables + constraints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</a:t>
            </a:r>
            <a:r>
              <a:rPr lang="en-US" sz="10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count_open_issues, fn_sprint_velocity, fn_project_health…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3822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 </a:t>
            </a:r>
            <a:r>
              <a:rPr lang="en-US" sz="10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update_issue_status, rollup_parent_issue_status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26680" y="43525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 </a:t>
            </a:r>
            <a:r>
              <a:rPr lang="en-US" sz="10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rollup, audit log, role 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26680" y="48828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 </a:t>
            </a:r>
            <a:r>
              <a:rPr lang="en-US" sz="10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v_issue_full, v_project_stats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critical rules (status rollups, audits, role checks) live in the database itself — so they hold even if a change bypasses the app.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6C2B843-C07F-C2A9-B007-245881094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6486" y="425055"/>
            <a:ext cx="8675852" cy="64329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AD58C4-8D5E-4FB7-9CC8-3313E1CE61B1}"/>
              </a:ext>
            </a:extLst>
          </p:cNvPr>
          <p:cNvSpPr txBox="1"/>
          <p:nvPr/>
        </p:nvSpPr>
        <p:spPr>
          <a:xfrm>
            <a:off x="5043487" y="63500"/>
            <a:ext cx="210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313138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C3CA-BADE-AC77-7C89-99BE1821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3370D-9123-519A-D3B2-EC063C518F12}"/>
              </a:ext>
            </a:extLst>
          </p:cNvPr>
          <p:cNvSpPr txBox="1"/>
          <p:nvPr/>
        </p:nvSpPr>
        <p:spPr>
          <a:xfrm>
            <a:off x="5043487" y="63500"/>
            <a:ext cx="210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6C92E-AA7B-08F5-09F3-94FF25E0E6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" t="5575" b="926"/>
          <a:stretch>
            <a:fillRect/>
          </a:stretch>
        </p:blipFill>
        <p:spPr>
          <a:xfrm>
            <a:off x="1195262" y="382337"/>
            <a:ext cx="9798300" cy="641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9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Identity &amp; Ownership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&amp; Constraints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name  ·  email UNIQUE  ·  password  ·  avatar  ·  job_title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935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935224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owner_id FK → users  ·  name  ·  key UNIQUE  · 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6758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project_id FK → projects  ·  user_id FK → users  ·  role  ·  UNIQUE(project_id, user_id)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165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416552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project_id FK → projects  ·  name  ·  UNIQUE(project_id, name)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1572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team_members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5157216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team_id FK → teams  ·  user_id FK → users  ·  role  ·  UNIQUE(team_id, user_id)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Work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&amp; Constraints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project_id FK → projects  ·  name  ·  start_date  ·  end_date  · 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35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935224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key UNIQUE  ·  project_id, team_id(null), sprint_id(null), reporter_id, assignee_id(null), parent_issue_id(self, null) FK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6758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issue_id FK → issues  ·  user_id FK → users  ·  body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4165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416552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project_id(null), issue_id(null), user_id(null) FK  ·  action, old_values, new_values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51572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5157216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  ·  notifiable_type + notifiable_id (polymorphic)  ·  type  ·  data  ·  read_at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Data Flow — How a Request Reaches the Database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user acts in the Blade/Livewire UI — e.g. dragging a card on the Scrum board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832" y="2199132"/>
            <a:ext cx="164592" cy="10972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13432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8658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86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08760" y="2313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Route + Controller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31920" y="23134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Laravel matches the route (web.php) and the controller validates input &amp; authorization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1832" y="2958084"/>
            <a:ext cx="164592" cy="10972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072384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14553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08760" y="307238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Query Layer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31920" y="3072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Eloquent models or a raw DB::select/DB::unprepared call build the SQL that is sent to Oracle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1832" y="3717036"/>
            <a:ext cx="164592" cy="10972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831336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90448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04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08760" y="38313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31920" y="383133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guard the tables; PL/SQL procedures/functions run the business rule (e.g. update_issue_status)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1832" y="4475988"/>
            <a:ext cx="164592" cy="10972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590288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66344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663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08760" y="45902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Triggers Fire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31920" y="459028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trg_issues_status_rollup and trg_issues_audit react automatically — rollups &amp; audit trail, no extra app code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41832" y="5234940"/>
            <a:ext cx="164592" cy="10972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422392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422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4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08760" y="5349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31920" y="5349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C7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Laravel returns the fresh state; Livewire re-renders only the affected part of the page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618134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Because rollups, audits and role checks are enforced by triggers inside Oracle, the same guarantees hold whether the request comes from the web UI, a script, or SQL Developer.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FA3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Lifecycle &amp; the Scrum 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3509" cy="137160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8306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80437" y="2770632"/>
            <a:ext cx="21945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2818181" y="2194560"/>
            <a:ext cx="2013509" cy="1371600"/>
          </a:xfrm>
          <a:prstGeom prst="roundRect">
            <a:avLst>
              <a:gd name="adj" fmla="val 6667"/>
            </a:avLst>
          </a:prstGeom>
          <a:solidFill>
            <a:srgbClr val="2A3A82"/>
          </a:solidFill>
          <a:ln/>
        </p:spPr>
      </p:sp>
      <p:sp>
        <p:nvSpPr>
          <p:cNvPr id="8" name="Text 6"/>
          <p:cNvSpPr/>
          <p:nvPr/>
        </p:nvSpPr>
        <p:spPr>
          <a:xfrm>
            <a:off x="2909621" y="2286000"/>
            <a:ext cx="18306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Sprint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9978" y="2770632"/>
            <a:ext cx="21945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5087722" y="2194560"/>
            <a:ext cx="2013509" cy="1371600"/>
          </a:xfrm>
          <a:prstGeom prst="roundRect">
            <a:avLst>
              <a:gd name="adj" fmla="val 6667"/>
            </a:avLst>
          </a:prstGeom>
          <a:solidFill>
            <a:srgbClr val="3D5AA8"/>
          </a:solidFill>
          <a:ln/>
        </p:spPr>
      </p:sp>
      <p:sp>
        <p:nvSpPr>
          <p:cNvPr id="11" name="Text 9"/>
          <p:cNvSpPr/>
          <p:nvPr/>
        </p:nvSpPr>
        <p:spPr>
          <a:xfrm>
            <a:off x="5179162" y="2286000"/>
            <a:ext cx="18306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19518" y="2770632"/>
            <a:ext cx="21945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7262" y="2194560"/>
            <a:ext cx="2013509" cy="1371600"/>
          </a:xfrm>
          <a:prstGeom prst="roundRect">
            <a:avLst>
              <a:gd name="adj" fmla="val 6667"/>
            </a:avLst>
          </a:prstGeom>
          <a:solidFill>
            <a:srgbClr val="1C8C6E"/>
          </a:solidFill>
          <a:ln/>
        </p:spPr>
      </p:sp>
      <p:sp>
        <p:nvSpPr>
          <p:cNvPr id="14" name="Text 12"/>
          <p:cNvSpPr/>
          <p:nvPr/>
        </p:nvSpPr>
        <p:spPr>
          <a:xfrm>
            <a:off x="7448702" y="2286000"/>
            <a:ext cx="18306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89059" y="2770632"/>
            <a:ext cx="21945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6803" y="2194560"/>
            <a:ext cx="2013509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718243" y="2286000"/>
            <a:ext cx="18306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columns are generated live from each issue's status field — moving a card calls update_issue_status(), the same procedure the app and SQL Developer both use.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child issue's status changes, trg_issues_status_rollup automatically recomputes its parent Epic/Story status — the database keeps the hierarchy consistent without app-level polling.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39696" cy="3108960"/>
          </a:xfrm>
          <a:prstGeom prst="roundRect">
            <a:avLst>
              <a:gd name="adj" fmla="val 341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across all projects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5496" y="1828800"/>
            <a:ext cx="2139696" cy="3108960"/>
          </a:xfrm>
          <a:prstGeom prst="roundRect">
            <a:avLst>
              <a:gd name="adj" fmla="val 3419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2148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2962656" y="2971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4747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members, settings &amp; project lifecycle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02352" y="1828800"/>
            <a:ext cx="2139696" cy="3108960"/>
          </a:xfrm>
          <a:prstGeom prst="roundRect">
            <a:avLst>
              <a:gd name="adj" fmla="val 341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5239512" y="2971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34747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sprint planning and board ceremonies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79208" y="1828800"/>
            <a:ext cx="2139696" cy="3108960"/>
          </a:xfrm>
          <a:prstGeom prst="roundRect">
            <a:avLst>
              <a:gd name="adj" fmla="val 341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29016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290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516368" y="2971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34747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updates and moves issues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56064" y="1828800"/>
            <a:ext cx="2139696" cy="3108960"/>
          </a:xfrm>
          <a:prstGeom prst="roundRect">
            <a:avLst>
              <a:gd name="adj" fmla="val 341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05872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40587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793224" y="2971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38944" y="347472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boards and reports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stored per-membership (project_members.role, team_members.role) — the same person can be a Scrum Master on one project and a Developer on another.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trg_project_members_role_chk validates that only allowed role values can be inserted — enforced at the database layer, not just in a form dropdown.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67520" y="3017520"/>
            <a:ext cx="485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200" dirty="0"/>
          </a:p>
        </p:txBody>
      </p:sp>
      <p:sp>
        <p:nvSpPr>
          <p:cNvPr id="33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BEC708-CC15-0F7F-9F4E-48CD2DD1E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99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65759-4382-002C-7820-7656F1F5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80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AE3C6-700D-016F-3BA5-21A6C163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61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E4B975-F25F-6D22-F742-8FDE3023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41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8A63D-CBE3-88F3-411B-A31EF312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26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8AD0-A690-C4FB-09EA-115B4B51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59453-2CA5-C863-D1FC-A74082B0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77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0E71-9651-156D-D1A8-DD2CE8EE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F5B2C-3CB7-A4C6-430B-D351ADBD9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6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12D47-440F-0DF5-88AC-2B9330E9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DE9833-7F5A-24C2-77CF-0BA045C7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82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9647-24F6-C31C-823B-1B6F37D8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6FF2E-2FD5-07A5-E4B5-7ECEF59F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59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4E6241-8454-4542-0187-5BEB9758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09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7DA0-D61D-A116-0F90-45DADC1C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6C993-8745-B9A7-F397-FA76A633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11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B5B5-74DC-AAD0-DA98-1290424A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EE4654-0A08-3341-3B1B-506236114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81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4323-16A1-70BA-0BB5-4CCABBE1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6D3F0-1E33-F3CB-0B97-11F9B86C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008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7CA3-EE71-D223-4638-D4D63E4E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735CB-11BC-1CED-1C69-E750ED64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2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44D1-DDE4-65A1-5692-8FB9CFFB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17DA96-E64F-BBC4-FFE3-2A540D7774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8"/>
          <a:stretch>
            <a:fillRect/>
          </a:stretch>
        </p:blipFill>
        <p:spPr>
          <a:xfrm>
            <a:off x="1" y="893"/>
            <a:ext cx="12188824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77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88CD-A26E-0EF7-D9D2-841109B1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5E98E-7775-3F85-CA0B-1A0A01FD5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7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73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ED1B-6C31-E486-9020-A9783CC1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D78F9-23CB-2FE8-9FBF-D7851417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8"/>
          <a:stretch>
            <a:fillRect/>
          </a:stretch>
        </p:blipFill>
        <p:spPr>
          <a:xfrm>
            <a:off x="1" y="893"/>
            <a:ext cx="12188824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75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676E-0D55-FDE9-00B0-AE1208AA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A039C5-2AE1-EC12-48D0-0E0916C8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8"/>
          <a:stretch>
            <a:fillRect/>
          </a:stretch>
        </p:blipFill>
        <p:spPr>
          <a:xfrm>
            <a:off x="1" y="893"/>
            <a:ext cx="12188824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16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6763-64BE-511B-84E1-408EFFF5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BFA61-A2AD-980D-F8EB-8A90D495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8"/>
          <a:stretch>
            <a:fillRect/>
          </a:stretch>
        </p:blipFill>
        <p:spPr>
          <a:xfrm>
            <a:off x="1" y="893"/>
            <a:ext cx="12188824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68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Pushing Logic Into the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tables, ScrumLab uses four categories of PL/SQL objects so that business rules are enforced no matter what touches the data — the Laravel app, a raw SQL script, or SQL Developer.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97764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calculations callable from SQL: open-issue counts, sprint velocity, cycle time, project health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9856" y="24688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9856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57016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4448" y="397764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operations: status changes, parent status rollup, centralized error logging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91072" y="24688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28232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397764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reactions: status rollups, full audit trail, role validation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62288" y="24688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2288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99448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397764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AE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read models: v_issue_full, v_project_stats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— Callable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count_open_issues(project_id)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issues not yet 'done' for a project — powers the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35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fn_sprint_velocity(sprint_id)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935224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story points of 'done' issues in a sprint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6758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fn_issue_cycle_time(issue_id)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creation to completion; NULL if not done yet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4165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fn_project_progress_pct(project_id)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416552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a project's issues marked done, rounded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515721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fn_project_health(project_id)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5157216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health label derived from progress % and overdue 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8978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897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fn_new_uuid()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589788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UUID for new primary keys inside PL/SQL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Open-Issue Count &amp; Sprint Velocity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count_open_issues.sql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
</a:t>
            </a: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count_open_issues(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p_project_id VARCHAR2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NUMBER IS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v_count NUMBER;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INTO v_count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issues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project_id = p_project_id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status != 'done';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v_count;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fn_sprint_velocity.sql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
</a:t>
            </a: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fn_sprint_velocity(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p_sprint_id VARCHAR2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NUMBER IS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v_points NUMBER;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NVL(SUM(story_points), 0)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v_points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issues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sprint_id = p_sprint_id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status = 'done';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v_points;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Cycle Time &amp; Progress Percentage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fn_issue_cycle_time.sql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
</a:t>
            </a: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fn_issue_cycle_time(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p_issue_id VARCHAR2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NUMBER IS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v_status issues.status%TYPE;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v_created issues.created_at%TYPE;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v_updated issues.updated_at%TYPE;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status, created_at, updated_at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v_status, v_created, v_updated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issues WHERE id = p_issue_id;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v_status != 'done' OR v_created IS NULL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 v_updated IS NULL THEN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CAST(v_updated AS DATE)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CAST(v_created AS DATE);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NO_DATA_FOUND THEN RETURN NULL;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fn_project_progress_pct.sql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
</a:t>
            </a: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fn_project_progress_pct(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p_project_id VARCHAR2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NUMBER IS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v_total NUMBER; v_done NUMBER;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COUNT(*),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NVL(SUM(CASE WHEN status='done'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1 ELSE 0 END), 0)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v_total, v_done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issues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project_id = p_project_id;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v_total = 0 THEN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ROUND((v_done / v_total) * 100);</a:t>
            </a:r>
            <a:endParaRPr lang="en-US" sz="10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Project Health Label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fn_project_health.sql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 — combines progress % with overdue sprint work
</a:t>
            </a: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fn_project_health(p_project_id VARCHAR2) RETURN VARCHAR2 IS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v_total NUMBER; v_done NUMBER; v_overdue NUMBER;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COUNT(*), NVL(SUM(CASE WHEN status='done' THEN 1 ELSE 0 END), 0)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v_total, v_done FROM issues WHERE project_id = p_project_id;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v_total = 0 THEN RETURN 'empty'; END IF;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Unfinished issues sitting in a sprint whose end date has passed.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INTO v_overdue FROM issues i JOIN sprints s ON s.id = i.sprint_id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i.project_id = p_project_id AND i.status != 'done' AND s.end_date &lt; TRUNC(SYSDATE);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v_done = v_total THEN RETURN 'complete';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ELSIF v_overdue &gt; 0 THEN RETURN 'at_risk';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ELSIF (v_done / v_total) &gt;= 0.5 THEN RETURN 'on_track';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RETURN 'behind';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 — Multi-Step 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update_issue_status(issue_id, status)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applies a status change; hardened with input checks and centralized error logging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35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rollup_parent_issue_status(issue_id)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935224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a parent Epic/Story's status from the state of its children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6758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proc_log_error(code, message, context)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structured error details for any failed operation, shared across procedures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PROCEDURES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update_issue_status (Hardened)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11091672" cy="4563533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update_issue_status.sql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PROCEDURE — validates input at the DB layer, defense-in-depth vs. app bugs
</a:t>
            </a: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 update_issue_status(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p_issue_id VARCHAR2, p_status VARCHAR2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IS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v_exists NUMBER;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p_status NOT IN ('backlog','selected','in_progress','review','done') THEN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RAISE_APPLICATION_ERROR(-20010, 'Invalid issue status: ' || p_status);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INTO v_exists FROM issues WHERE id = p_issue_id;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v_exists = 0 THEN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RAISE_APPLICATION_ERROR(-20014, 'Issue not found: ' || p_issue_id);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issues SET status = p_status, updated_at = SYSTIMESTAMP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 = p_issue_id;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PROCEDURES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rollup_parent_issue_status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708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rollup_parent_issue_status.sql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PROCEDURE — recomputes a parent's status from all its children
</a:t>
            </a: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 rollup_parent_issue_status(p_issue_id VARCHAR2, p_new_status VARCHAR2) IS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v_parent_id VARCHAR2(36); v_parent_status VARCHAR2(255);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v_child_total, v_child_done, v_child_active, v_child_selected NUMBER;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v_new_status VARCHAR2(255);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parent_issue_id INTO v_parent_id FROM issues WHERE id = p_issue_id;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v_parent_id IS NULL THEN RETURN; END IF;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status INTO v_parent_status FROM issues WHERE id = v_parent_id;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Count children by effective status (treats p_issue_id's NEW status as already applied)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NVL(SUM(CASE WHEN eff_status='done' THEN 1 ELSE 0 END), 0),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NVL(SUM(CASE WHEN eff_status IN ('in_progress','review') THEN 1 ELSE 0 END), 0),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NVL(SUM(CASE WHEN eff_status='selected' THEN 1 ELSE 0 END), 0)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v_child_total, v_child_done, v_child_active, v_child_selected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(SELECT CASE WHEN id=p_issue_id THEN p_new_status ELSE status END eff_status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issues WHERE parent_issue_id = v_parent_id);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v_child_total = 0 THEN RETURN; END IF;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v_child_done = v_child_total THEN v_new_status := 'done';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ELSIF v_child_active &gt; 0 THEN v_new_status := 'in_progress';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ELSIF v_child_selected &gt; 0 THEN v_new_status := 'selected';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v_new_status := 'backlog'; END IF;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v_new_status != v_parent_status THEN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issues SET status=v_new_status, updated_at=SYSTIMESTAMP WHERE id=v_parent_id;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 — Automatic Enforcement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7799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trg_project_members_role_chk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BEFORE INSERT/UPDATE on membership rows; rejects invalid role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352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trg_issues_status_rollup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935224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AFTER an issue's status changes; calls rollup_parent_issue_status so parents stay in sync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6758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trg_issues_audit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7708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INSERT/UPDATE/DELETE of an issue; writes an activity_logs row in the same transaction — a change and its audit record can never drift apart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TRIGGERS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trg_project_members_role_chk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trg_project_members_role_chk.sql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— BEFORE INSERT OR UPDATE OF role ON project_members
</a:t>
            </a: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trg_project_members_role_chk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OR UPDATE OF role ON project_members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:NEW.role NOT IN (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'admin', 'project_owner', 'scrum_master', 'developer', 'viewer'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THEN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RAISE_APPLICATION_ERROR(-20001, 'Invalid project member role: ' || :NEW.role);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TRIGGERS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trg_issues_status_rollup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9740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trg_issues_status_rollup.sql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— compound trigger, batches changed rows then rolls up once per statement
</a:t>
            </a: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trg_issues_status_rollup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UPDATE OF status ON issues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TRIGGER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t_issue_change IS RECORD (issue_id issues.id%TYPE, new_status issues.status%TYPE);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t_issue_changes IS TABLE OF t_issue_change INDEX BY PLS_INTEGER;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g_changes t_issue_changes;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 EACH ROW IS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:OLD.status != :NEW.status THEN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g_changes(g_changes.COUNT + 1).issue_id := :NEW.id;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g_changes(g_changes.COUNT).new_status := :NEW.status;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AFTER EACH ROW;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 STATEMENT IS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 .. g_changes.COUNT LOOP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rollup_parent_issue_status(g_changes(i).issue_id, g_changes(i).new_status);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g_changes.DELETE;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AFTER STATEMENT;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trg_issues_status_rollup;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TRIGGERS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trg_issues_audit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11091672" cy="4671908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trg_issues_audit.sql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— AFTER INSERT OR UPDATE OR DELETE ON issues, writes activity_logs in the same transaction
</a:t>
            </a: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trg_issues_audit  AFTER INSERT OR UPDATE OR DELETE ON issues FOR EACH ROW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v_action VARCHAR2(255); v_old VARCHAR2(4000); v_new VARCHAR2(4000);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v_project_id VARCHAR2(36); v_issue_id VARCHAR2(36);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INSERTING THEN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v_action := 'issue_created'; v_project_id := :NEW.project_id; v_issue_id := :NEW.id;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v_new := '{status:'||:NEW.status||', title:'||SUBSTR(:NEW.title,1,200)||'}';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ELSIF DELETING THEN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v_action := 'issue_deleted'; v_project_id := :OLD.project_id; v_issue_id := :OLD.id;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v_old := '{status:'||:OLD.status||', title:'||SUBSTR(:OLD.title,1,200)||'}';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NVL(:OLD.status,'~')=NVL(:NEW.status,'~') AND NVL(:OLD.assignee_id,'~')=NVL(:NEW.assignee_id,'~')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AND NVL(:OLD.priority,'~')=NVL(:NEW.priority,'~') AND NVL(:OLD.sprint_id,'~')=NVL(:NEW.sprint_id,'~')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RETURN; END IF;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v_action := CASE WHEN NVL(:OLD.status,'~')!=NVL(:NEW.status,'~')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THEN 'status_changed' ELSE 'issue_updated' END;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v_old := '{...OLD status/assignee/priority/sprint...}';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v_new := '{...NEW status/assignee/priority/sprint...}';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activity_logs (id, project_id, issue_id, action, subject_type,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subject_id, old_values, new_values, created_at, updated_at)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(fn_new_uuid, v_project_id, v_issue_id, v_action, 'issue', v_issue_id,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v_old, v_new, SYSTIMESTAMP, SYSTIMESTAMP);</a:t>
            </a:r>
            <a:endParaRPr lang="en-US" sz="9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Shared Utility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v_issue_full 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issues with project, sprint, team, assignee &amp; reporter names, plus fn_issue_cycle_time() — controllers stop re-writing the same 5-table join.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v_project_stats 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row per project: issue_count, open_count, progress_pct, health, team_count, member_count — built directly on the metric functions.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30952" cy="4297680"/>
          </a:xfrm>
          <a:prstGeom prst="roundRect">
            <a:avLst>
              <a:gd name="adj" fmla="val 1702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&amp; UUID utilities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standalone PL/SQL objects — fn_new_uuid and proc_log_error — shared by procedures like update_issue_status and rollup_parent_issue_status. No package wraps them; they're called directly.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3566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 error codes &amp; messages across all procedures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proc_log_error persists failures via an autonomous transaction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4572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Avoids duplicating exception blocks in every object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Makes failures traceable in SQL Developer, not just app logs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VIEWS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v_issue_full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v_issue_full.sql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 — denormalized issue read model used across controllers
</a:t>
            </a: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v_issue_full AS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i.*,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p.key AS project_key, p.name AS project_name,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s.name AS sprint_name, s.status AS sprint_status,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tm.name AS team_name,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ua.name AS assignee_name, ua.avatar AS assignee_avatar,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ur.name AS reporter_name,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fn_issue_cycle_time(i.id) AS cycle_time_days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issues i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projects p     ON p.id  = i.project_id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sprints s ON s.id  = i.sprint_id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teams tm  ON tm.id = i.team_id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users ua  ON ua.id = i.assignee_id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users ur       ON ur.id = i.reporter_id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VIEWS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v_project_stats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v_project_stats.sql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 — one live row per project, built on the metric functions
</a:t>
            </a: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v_project_stats AS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p.id AS project_id, p.name AS project_name, p.key AS project_key,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issues i WHERE i.project_id = p.id)  AS issue_count,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count_open_issues(p.id)                                    AS open_count,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fn_project_progress_pct(p.id)                               AS progress_pct,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fn_project_health(p.id)                                     AS health,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teams t WHERE t.project_id = p.id)   AS team_count,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project_members m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m.project_id = p.id)                                AS member_count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projects 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UTILITY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fn_new_uuid &amp; proc_log_error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fn_new_uuid.sql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 — UUID matching the app's VARCHAR2(36) keys
</a:t>
            </a: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fn_new_uuid RETURN VARCHAR2 IS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v_hex VARCHAR2(32);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v_hex := LOWER(RAWTOHEX(SYS_GUID()));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SUBSTR(v_hex,1,8)||'-'||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SUBSTR(v_hex,9,4)||'-'||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SUBSTR(v_hex,13,4)||'-'||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SUBSTR(v_hex,17,4)||'-'||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SUBSTR(v_hex,21,12);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proc_log_error.sql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PROCEDURE — autonomous transaction, survives a rollback
</a:t>
            </a: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 proc_log_error(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p_context VARCHAR2, p_message VARCHAR2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IS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PRAGMA AUTONOMOUS_TRANSACTION;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activity_logs 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id, action, subject_type,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new_values, created_at, updated_at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VALUES 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fn_new_uuid, 'error',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SUBSTR(p_context,1,255),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SUBSTR(p_message,1,4000),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SYSTIMESTAMP, SYSTIMESTAMP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PL/SQL: The Reports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app/Http/Controllers/ReportController.php is a dedicated showcase of core SQL features the rest of the app doesn't otherwise use — each report method demonstrates one technique.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9584" cy="3703320"/>
          </a:xfrm>
          <a:prstGeom prst="roundRect">
            <a:avLst>
              <a:gd name="adj" fmla="val 2073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5146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UNION — my work (assignee ∪ reporter)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64845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UNION ALL — merged activity timeline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423367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INTERSECT — members onboarded to a 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81888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MINUS — members on no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2331720"/>
            <a:ext cx="3529584" cy="3703320"/>
          </a:xfrm>
          <a:prstGeom prst="roundRect">
            <a:avLst>
              <a:gd name="adj" fmla="val 2073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5424" y="25146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306324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RANK() OVER — leaderboard by issues done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5424" y="364845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DENSE_RANK() OVER — leaderboard by points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35424" y="423367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SUM() OVER — cumulative sprint velocity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2331720"/>
            <a:ext cx="3529584" cy="3703320"/>
          </a:xfrm>
          <a:prstGeom prst="roundRect">
            <a:avLst>
              <a:gd name="adj" fmla="val 2073"/>
            </a:avLst>
          </a:prstGeom>
          <a:solidFill>
            <a:srgbClr val="2A3A82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5146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Filtering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GROUP BY — aggregate counts per team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364845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HAVING — teams with open issues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— SET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UNION &amp; UNION 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mywork.sql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UNION — issues where the user is assignee OR reporter, de-duplicated
</a:t>
            </a: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key, title, status, 'Assignee' AS role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issues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project_id = ? AND assignee_id = ?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key, title, status, 'Reporter' AS role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issues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project_id = ? AND reporter_id = ?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key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unifiedtimeline.sql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UNION ALL — comments + activity merged, newest first (no dedupe needed)
</a:t>
            </a: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'comment' kind, c.created_at ts,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u.name actor, i.key issue_key,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SUBSTR(c.body,1,120) detail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comments c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issues i ON i.id = c.issue_id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users u ON u.id = c.user_id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i.project_id = ?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'activity', al.created_at,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u.name, i.key, al.action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activity_logs al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issues i ON i.id = al.issue_id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users u ON u.id = al.user_id</a:t>
            </a:r>
            <a:endParaRPr lang="en-US" sz="9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al.project_id = ?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— SET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INTERSECT &amp; MINUS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onboardedmembers.sql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INTERSECT — members who are both project members AND on a team
</a:t>
            </a: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u.name FROM users u JOIN 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user_id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project_members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project_id = ?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INTERSECT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tm.user_id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team_members tm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teams t ON t.id = tm.team_id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t.project_id = ?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x ON x.user_id = u.id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u.name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membersonnoteam.sql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MINUS — project members that belong to no team
</a:t>
            </a: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u.name FROM users u JOIN 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user_id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project_members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project_id = ?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MINUS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tm.user_id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team_members tm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teams t ON t.id = tm.team_id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t.project_id = ?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x ON x.user_id = u.id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u.name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— WINDOW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RANK() &amp; DENSE_RANK()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leaderboard.sql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1072591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One query, two ranking styles — RANK() leaves gaps after ties, DENSE_RANK() doesn't
</a:t>
            </a: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u.name,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COUNT(i.id) AS assigned,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NVL(SUM(CASE WHEN i.status='done' THEN 1 ELSE 0 END), 0) AS done,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NVL(SUM(i.story_points), 0) AS points,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OVER 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NVL(SUM(CASE WHEN i.status='done' THEN 1 ELSE 0 END), 0) DESC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rnk,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DENSE_RANK() OVER 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NVL(SUM(i.story_points), 0) DESC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points_rnk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project_members pm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users u ON u.id = pm.user_id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issues i ON i.assignee_id = u.id AND i.project_id = pm.project_id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pm.project_id = ?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u.id, u.name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rnk, u.name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— WINDOW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SUM() OVER &amp; HAVING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cumulativevelocity.sql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SUM() OVER — a running total across sprints, ordered by start date
</a:t>
            </a: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NVL(SUM(CASE WHEN i.status='done'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i.story_points END), 0) AS points,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SUM(NVL(SUM(CASE WHEN i.status='done'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i.story_points END), 0))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 (ORDER BY s.start_date, s.id)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cumulative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sprints 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issues i ON i.sprint_id = s.id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s.project_id = ?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s.id, s.name, s.start_date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s.start_date, s.id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1E24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600200"/>
            <a:ext cx="5440680" cy="365760"/>
          </a:xfrm>
          <a:prstGeom prst="roundRect">
            <a:avLst>
              <a:gd name="adj" fmla="val 20000"/>
            </a:avLst>
          </a:prstGeom>
          <a:solidFill>
            <a:srgbClr val="323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72364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2364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2364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6002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busyteams.sql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2039112"/>
            <a:ext cx="507492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HAVING — filters on the aggregate itself, after grouping
</a:t>
            </a: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t.name,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COUNT(i.id) AS open_issues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teams 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issues i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i.team_id = t.id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i.status != 'done'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t.project_id = ?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t.id, t.name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COUNT(i.id) &gt; 0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open_issues DESC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Data Integrity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24612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covers login, project creation, issue creation, status updates &amp; sprint planning against a real Oracle schema.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8288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3621024" y="27432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schema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21024" y="324612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.env.testing points to a separate Oracle user, so php artisan test never touches development data — an auto-provisioner creates the schema if missing.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91072" y="18288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sample data — projects, members, sprints, issues, comments — makes every demo and test reproducible.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62288" y="18288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EEF9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20574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9363456" y="27432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DB-enforced rules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63456" y="3246120"/>
            <a:ext cx="22494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rollups, audits &amp; role checks live in triggers, they're covered automatically the moment any test writes to the tables — not just when a specific endpoint is hit.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Oracle-only tooling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783080"/>
            <a:ext cx="7223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OCI8 setup (Instant Client, php.ini) is finicky per machine — solved with a one-time composer run setup-oracle script.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953512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migrations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953512"/>
            <a:ext cx="7223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schema builder doesn't express PL/SQL, so table DDL and database objects are written as versioned DB::unprepared() SQL instead.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576" y="4123944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41B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896" y="4123944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hierarchy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736" y="4123944"/>
            <a:ext cx="7223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→ Stories/Tasks → Subtasks required careful FK design and a recursive-feeling rollup procedure.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2926080" cy="2926080"/>
          </a:xfrm>
          <a:prstGeom prst="ellipse">
            <a:avLst/>
          </a:prstGeom>
          <a:ln w="1524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18220" y="-982980"/>
            <a:ext cx="3977640" cy="3977640"/>
          </a:xfrm>
          <a:prstGeom prst="ellipse">
            <a:avLst/>
          </a:prstGeom>
          <a:ln w="1524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-1508760"/>
            <a:ext cx="5029200" cy="5029200"/>
          </a:xfrm>
          <a:prstGeom prst="ellipse">
            <a:avLst/>
          </a:prstGeom>
          <a:ln w="1524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66660" y="-2034540"/>
            <a:ext cx="6080760" cy="6080760"/>
          </a:xfrm>
          <a:prstGeom prst="ellipse">
            <a:avLst/>
          </a:prstGeom>
          <a:ln w="1524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56D8F9-BFD1-4BB6-ABD4-A0683647409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b2a52d6a-afd5-4a15-abc3-138023383a5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6016</Words>
  <Application>Microsoft Office PowerPoint</Application>
  <PresentationFormat>Custom</PresentationFormat>
  <Paragraphs>758</Paragraphs>
  <Slides>58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Mutiur Rahman</cp:lastModifiedBy>
  <cp:revision>12</cp:revision>
  <dcterms:created xsi:type="dcterms:W3CDTF">2026-07-18T16:11:04Z</dcterms:created>
  <dcterms:modified xsi:type="dcterms:W3CDTF">2026-07-18T20:29:13Z</dcterms:modified>
</cp:coreProperties>
</file>